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E0663A"/>
            </a:solidFill>
          </c:spPr>
          <c:cat>
            <c:strRef>
              <c:f>Sheet1!$A$2:$A$11</c:f>
              <c:strCache>
                <c:ptCount val="10"/>
                <c:pt idx="0">
                  <c:v>Dec</c:v>
                </c:pt>
                <c:pt idx="1">
                  <c:v>Jan</c:v>
                </c:pt>
                <c:pt idx="2">
                  <c:v>Feb</c:v>
                </c:pt>
                <c:pt idx="3">
                  <c:v>Mar</c:v>
                </c:pt>
                <c:pt idx="4">
                  <c:v>Apr</c:v>
                </c:pt>
                <c:pt idx="5">
                  <c:v>May</c:v>
                </c:pt>
                <c:pt idx="6">
                  <c:v>Jun</c:v>
                </c:pt>
                <c:pt idx="7">
                  <c:v>Jul</c:v>
                </c:pt>
                <c:pt idx="8">
                  <c:v>Aug</c:v>
                </c:pt>
                <c:pt idx="9">
                  <c:v>Sep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0.99</c:v>
                </c:pt>
                <c:pt idx="1">
                  <c:v>1.17</c:v>
                </c:pt>
                <c:pt idx="2">
                  <c:v>1.35</c:v>
                </c:pt>
                <c:pt idx="3">
                  <c:v>1.51</c:v>
                </c:pt>
                <c:pt idx="4">
                  <c:v>1.72</c:v>
                </c:pt>
                <c:pt idx="5">
                  <c:v>1.92</c:v>
                </c:pt>
                <c:pt idx="6">
                  <c:v>2.13</c:v>
                </c:pt>
                <c:pt idx="7">
                  <c:v>2.29</c:v>
                </c:pt>
                <c:pt idx="8">
                  <c:v>2.42</c:v>
                </c:pt>
                <c:pt idx="9">
                  <c:v>2.6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6E2D9"/>
            </a:solidFill>
          </a:ln>
        </c:spPr>
        <c:txPr>
          <a:bodyPr/>
          <a:lstStyle/>
          <a:p>
            <a:pPr>
              <a:defRPr sz="1100">
                <a:solidFill>
                  <a:srgbClr val="5D68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Agenda: highlights, metrics, team, financing, customers, then the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Globex expansion is the proof point for land-and-expand.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 closed Q3 at $2.6M.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Hiring plan for Q4 is in the appendix of the pre-read.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We'd like the board's help with warm intros to the firms on our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Initech's pilot is scoped to one building to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2000" y="666750"/>
            <a:ext cx="209550" cy="209550"/>
          </a:xfrm>
          <a:prstGeom prst="ellipse">
            <a:avLst/>
          </a:prstGeom>
          <a:solidFill>
            <a:srgbClr val="E0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6800" y="609600"/>
            <a:ext cx="3810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F4F1EA"/>
                </a:solidFill>
                <a:latin typeface="Helvetica Neue"/>
              </a:rPr>
              <a:t>Acme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476500"/>
            <a:ext cx="9525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5400" b="1">
                <a:solidFill>
                  <a:srgbClr val="F4F1EA"/>
                </a:solidFill>
                <a:latin typeface="Helvetica Neue"/>
              </a:rPr>
              <a:t>Acme AI - Q3 2026 board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810000"/>
            <a:ext cx="857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AEB6C4"/>
                </a:solidFill>
                <a:latin typeface="Helvetica Neue"/>
              </a:rPr>
              <a:t>October 2026 · Quarterly board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E0663A"/>
                </a:solidFill>
                <a:latin typeface="Helvetica Neue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00100"/>
            <a:ext cx="95250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600" b="1">
                <a:solidFill>
                  <a:srgbClr val="0F1B2D"/>
                </a:solidFill>
                <a:latin typeface="Helvetica Neue"/>
              </a:rPr>
              <a:t>Q3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809750"/>
            <a:ext cx="952500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200" b="0">
                <a:solidFill>
                  <a:srgbClr val="0F1B2D"/>
                </a:solidFill>
                <a:latin typeface="Helvetica Neue"/>
              </a:rPr>
              <a:t>•  Globex went live in a second warehouse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2200" b="0">
                <a:solidFill>
                  <a:srgbClr val="0F1B2D"/>
                </a:solidFill>
                <a:latin typeface="Helvetica Neue"/>
              </a:rPr>
              <a:t>•  Plain-English explanations shipped to every site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2200" b="0">
                <a:solidFill>
                  <a:srgbClr val="0F1B2D"/>
                </a:solidFill>
                <a:latin typeface="Helvetica Neue"/>
              </a:rPr>
              <a:t>•  Labour planning module in beta with Hooli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2200" b="0">
                <a:solidFill>
                  <a:srgbClr val="0F1B2D"/>
                </a:solidFill>
                <a:latin typeface="Helvetica Neue"/>
              </a:rPr>
              <a:t>•  Series A preparation underway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43890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1AB"/>
                </a:solidFill>
                <a:latin typeface="Helvetica Neue"/>
              </a:rPr>
              <a:t>Acme AI · Board update ·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0" y="6438900"/>
            <a:ext cx="95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1AB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E0663A"/>
                </a:solidFill>
                <a:latin typeface="Helvetica Neue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00100"/>
            <a:ext cx="95250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600" b="1">
                <a:solidFill>
                  <a:srgbClr val="0F1B2D"/>
                </a:solidFill>
                <a:latin typeface="Helvetica Neue"/>
              </a:rPr>
              <a:t>ARR by month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62000" y="1619250"/>
          <a:ext cx="723900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82000" y="1809750"/>
            <a:ext cx="30480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800" b="0">
                <a:solidFill>
                  <a:srgbClr val="0F1B2D"/>
                </a:solidFill>
                <a:latin typeface="Helvetica Neue"/>
              </a:rPr>
              <a:t>•  Every customer expanded or renewed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800" b="0">
                <a:solidFill>
                  <a:srgbClr val="0F1B2D"/>
                </a:solidFill>
                <a:latin typeface="Helvetica Neue"/>
              </a:rPr>
              <a:t>•  No churn this quarter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800" b="0">
                <a:solidFill>
                  <a:srgbClr val="0F1B2D"/>
                </a:solidFill>
                <a:latin typeface="Helvetica Neue"/>
              </a:rPr>
              <a:t>•  Pipeline weighted to mid-market 3PLs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43890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1AB"/>
                </a:solidFill>
                <a:latin typeface="Helvetica Neue"/>
              </a:rPr>
              <a:t>Acme AI · Board update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438900"/>
            <a:ext cx="95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1AB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E0663A"/>
                </a:solidFill>
                <a:latin typeface="Helvetica Neue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00100"/>
            <a:ext cx="95250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600" b="1">
                <a:solidFill>
                  <a:srgbClr val="0F1B2D"/>
                </a:solidFill>
                <a:latin typeface="Helvetica Neu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809750"/>
            <a:ext cx="5905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B2D"/>
                </a:solidFill>
                <a:latin typeface="Helvetica Neue"/>
              </a:rPr>
              <a:t>Headcount: 22 full-time (Sep 30)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81250"/>
            <a:ext cx="5905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0">
                <a:solidFill>
                  <a:srgbClr val="5D6878"/>
                </a:solidFill>
                <a:latin typeface="Helvetica Neue"/>
              </a:rPr>
              <a:t>Plus 6 contractors in Lisbon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9000" y="1714500"/>
            <a:ext cx="419100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24750" y="1952625"/>
            <a:ext cx="3714750" cy="247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0F1B2D"/>
                </a:solidFill>
                <a:latin typeface="Helvetica Neue"/>
              </a:rPr>
              <a:t>•  Hired: two engineers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700" b="0">
                <a:solidFill>
                  <a:srgbClr val="0F1B2D"/>
                </a:solidFill>
                <a:latin typeface="Helvetica Neue"/>
              </a:rPr>
              <a:t>•  Open: Staff ML engineer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700" b="0">
                <a:solidFill>
                  <a:srgbClr val="0F1B2D"/>
                </a:solidFill>
                <a:latin typeface="Helvetica Neue"/>
              </a:rPr>
              <a:t>•  Open: Head of Customer Success, Europe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43890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1AB"/>
                </a:solidFill>
                <a:latin typeface="Helvetica Neue"/>
              </a:rPr>
              <a:t>Acme AI · Board update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438900"/>
            <a:ext cx="95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1AB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E0663A"/>
                </a:solidFill>
                <a:latin typeface="Helvetica Neue"/>
              </a:rPr>
              <a:t>FINANCING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00100"/>
            <a:ext cx="95250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600" b="1">
                <a:solidFill>
                  <a:srgbClr val="0F1B2D"/>
                </a:solidFill>
                <a:latin typeface="Helvetica Neue"/>
              </a:rPr>
              <a:t>Financing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809750"/>
            <a:ext cx="5905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B2D"/>
                </a:solidFill>
                <a:latin typeface="Helvetica Neue"/>
              </a:rPr>
              <a:t>Raised to date: $12M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81250"/>
            <a:ext cx="5905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0">
                <a:solidFill>
                  <a:srgbClr val="5D6878"/>
                </a:solidFill>
                <a:latin typeface="Helvetica Neue"/>
              </a:rPr>
              <a:t>Series A target: $25M, opening November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9000" y="1714500"/>
            <a:ext cx="419100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24750" y="1952625"/>
            <a:ext cx="3714750" cy="247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0F1B2D"/>
                </a:solidFill>
                <a:latin typeface="Helvetica Neue"/>
              </a:rPr>
              <a:t>•  October: data room and model ready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700" b="0">
                <a:solidFill>
                  <a:srgbClr val="0F1B2D"/>
                </a:solidFill>
                <a:latin typeface="Helvetica Neue"/>
              </a:rPr>
              <a:t>•  November: first meetings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700" b="0">
                <a:solidFill>
                  <a:srgbClr val="0F1B2D"/>
                </a:solidFill>
                <a:latin typeface="Helvetica Neue"/>
              </a:rPr>
              <a:t>•  December: target term 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43890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1AB"/>
                </a:solidFill>
                <a:latin typeface="Helvetica Neue"/>
              </a:rPr>
              <a:t>Acme AI · Board update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438900"/>
            <a:ext cx="95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1AB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E0663A"/>
                </a:solidFill>
                <a:latin typeface="Helvetica Neue"/>
              </a:rPr>
              <a:t>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00100"/>
            <a:ext cx="95250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600" b="1">
                <a:solidFill>
                  <a:srgbClr val="0F1B2D"/>
                </a:solidFill>
                <a:latin typeface="Helvetica Neue"/>
              </a:rPr>
              <a:t>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809750"/>
            <a:ext cx="5905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F1B2D"/>
                </a:solidFill>
                <a:latin typeface="Helvetica Neue"/>
              </a:rPr>
              <a:t>Globex (2 warehouses), Hooli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81250"/>
            <a:ext cx="5905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0">
                <a:solidFill>
                  <a:srgbClr val="5D6878"/>
                </a:solidFill>
                <a:latin typeface="Helvetica Neue"/>
              </a:rPr>
              <a:t>Initech: LOI signed, pilot Q1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9000" y="1714500"/>
            <a:ext cx="419100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24750" y="1952625"/>
            <a:ext cx="3714750" cy="247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0F1B2D"/>
                </a:solidFill>
                <a:latin typeface="Helvetica Neue"/>
              </a:rPr>
              <a:t>•  Globex: expansion signed in August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700" b="0">
                <a:solidFill>
                  <a:srgbClr val="0F1B2D"/>
                </a:solidFill>
                <a:latin typeface="Helvetica Neue"/>
              </a:rPr>
              <a:t>•  Hooli: labour module beta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700" b="0">
                <a:solidFill>
                  <a:srgbClr val="0F1B2D"/>
                </a:solidFill>
                <a:latin typeface="Helvetica Neue"/>
              </a:rPr>
              <a:t>•  Initech: pilot scope agreed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43890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1AB"/>
                </a:solidFill>
                <a:latin typeface="Helvetica Neue"/>
              </a:rPr>
              <a:t>Acme AI · Board update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438900"/>
            <a:ext cx="95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1AB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E0663A"/>
                </a:solidFill>
                <a:latin typeface="Helvetica Neue"/>
              </a:rPr>
              <a:t>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00100"/>
            <a:ext cx="95250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600" b="1">
                <a:solidFill>
                  <a:srgbClr val="0F1B2D"/>
                </a:solidFill>
                <a:latin typeface="Helvetica Neue"/>
              </a:rPr>
              <a:t>What we need from the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809750"/>
            <a:ext cx="952500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200" b="0">
                <a:solidFill>
                  <a:srgbClr val="0F1B2D"/>
                </a:solidFill>
                <a:latin typeface="Helvetica Neue"/>
              </a:rPr>
              <a:t>•  Intros to operations leaders at mid-market retailers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2200" b="0">
                <a:solidFill>
                  <a:srgbClr val="0F1B2D"/>
                </a:solidFill>
                <a:latin typeface="Helvetica Neue"/>
              </a:rPr>
              <a:t>•  Two references for the Head of Customer Success search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2200" b="0">
                <a:solidFill>
                  <a:srgbClr val="0F1B2D"/>
                </a:solidFill>
                <a:latin typeface="Helvetica Neue"/>
              </a:rPr>
              <a:t>•  Feedback on the Series A target list before November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43890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1AB"/>
                </a:solidFill>
                <a:latin typeface="Helvetica Neue"/>
              </a:rPr>
              <a:t>Acme AI · Board update ·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0" y="6438900"/>
            <a:ext cx="95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1AB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AI Q3 2026 board update (FICTIONAL company, demo data)</dc:title>
  <dc:subject>FICTIONAL company and data for the VentureSauce demo</dc:subject>
  <dc:creator>Jane Founder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